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CC99FF"/>
    <a:srgbClr val="FF9999"/>
    <a:srgbClr val="FFD700"/>
    <a:srgbClr val="C0C0C0"/>
    <a:srgbClr val="CD7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3F6A-028E-D9AB-CE29-70B7BA3A4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C849D-6A56-9FA6-DAFE-9066637D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56121-1020-7782-5B63-0A9D6941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0AF2D-E2C3-F3DD-93AC-540576410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741DA-1299-5FA5-DF23-5C3A9CA8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67007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A3FFF-4F3A-D144-E211-6186D164B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1552E-48DF-B6A6-BD44-0FE63F323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FB32F-3BC7-AEFF-AD93-0C8F07D2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DEEB7-1A32-BE42-C5B4-B94F509E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A480B-6798-A1A0-EBCF-8DE280F8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783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01BB3-6320-A2B9-12CD-50B5E05A2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72D52-525C-0585-F32E-48A4AFAE4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2E716-5A59-607B-577A-FF7929A2E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B36B4-6E25-3F1C-2EFB-05CF00E1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526BB-4C9D-7ADD-2FEB-431E1446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9196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D241-F46A-5900-5E91-AEC3A270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BF9EE-FFE3-68A9-1E1E-BF3069621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677E9-88B9-7975-6E82-DD0554CBE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ECB67-DE8E-4A34-34AE-092A7E945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6C395-6C0C-EB98-7ABC-03926B25F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22869-388F-C1ED-9FFA-7CE63E85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3920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76FFA-F8DB-BE06-A6BF-323BFDA9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E9989-2909-00B4-0068-EEF62F026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2BF25-AFE3-A9FE-D542-325DEEC4A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F65E3-8B5A-58E6-90A9-3158201BD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0E917-28FF-B782-DD3D-75EF187725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CEAA1-2103-5838-C10F-3B3B13744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9CFC0-0D37-B386-CEAF-E79F7003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632E32-B8DE-1A1E-4C46-8B5F9D2FB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09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F120-726F-826D-ADA9-A253D6B7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BFF25-280A-9D9E-BC61-7E59A616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DCCD6-5CF6-98F9-3719-942EC693D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AD926C-CBA5-C47E-6B3E-1E7365A2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5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E4A7BF-FD22-CCA8-3180-EA988715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34C70-B4D1-8AB8-DF64-99E79BB5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BE689-700E-F36C-9FD0-86B9C7EF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92577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4C7AC-19A0-6D54-8D92-19523A173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388A8-A9A3-DD24-BE5A-E6F9F7A7A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49F80-6924-BB12-838E-968CBC295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91FE2-125C-0212-212B-89413C14C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9A8F8-F1F1-F567-2BF1-430B202E7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B96F9-571B-8012-FCA5-7850AE52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20404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0914-0208-0D39-55E2-CF8FEE8BF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0EBAB-64BC-E82B-A0A1-FE35FEE15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F600E-A623-6618-8B1E-DB4E34DEC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80803-6447-74D4-CC59-D55C4FDAD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17497-437E-29E3-61D0-192E2A155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1C1E4-6E99-DED0-39A1-4DC56C98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209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AE666-51BD-A5C6-915E-CEC205B6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F5871-0909-4C1E-670D-733B712C9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8C14-51D1-8DA8-5F6F-F5875126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C2E9E-D6AC-12E6-6591-268BC0CD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B393D-F09B-900C-C730-0C12474C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1283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8EB8A2-2B61-2E2D-A71F-F31B1CD76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754A2-3B19-5DFA-E651-CA3884BAE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B8764-8365-6968-0887-4A853A33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3D309-F4D7-D947-09BE-97840854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D71A0-CA10-4E93-D74D-B6D0AAFB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4073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9AA1DF-8071-E318-3A4B-CC1962B66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7AE57-F6D0-C212-B451-18E5F1CAA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4F805-62DB-81C8-45C8-416393835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03769-6D5E-4EAC-93C9-50719B714E1D}" type="datetimeFigureOut">
              <a:rPr lang="en-MY" smtClean="0"/>
              <a:t>14/5/2026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8B78D-D3B8-8AF1-8022-E7D8E8875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072D-DCA0-0024-5B93-FF1499AA9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46F82-FCDE-4586-A9BA-14514981B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1483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D5371B-261D-9279-5CE1-80B1D6CDC6F9}"/>
              </a:ext>
            </a:extLst>
          </p:cNvPr>
          <p:cNvSpPr/>
          <p:nvPr/>
        </p:nvSpPr>
        <p:spPr>
          <a:xfrm>
            <a:off x="342900" y="1047750"/>
            <a:ext cx="2305050" cy="5476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EDEFCB-A498-5652-7DED-4F115C3F3DCC}"/>
              </a:ext>
            </a:extLst>
          </p:cNvPr>
          <p:cNvSpPr/>
          <p:nvPr/>
        </p:nvSpPr>
        <p:spPr>
          <a:xfrm>
            <a:off x="3109913" y="1047749"/>
            <a:ext cx="5934074" cy="5476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0D1E54-C641-3CA0-F23E-B0BBE96631D8}"/>
              </a:ext>
            </a:extLst>
          </p:cNvPr>
          <p:cNvSpPr/>
          <p:nvPr/>
        </p:nvSpPr>
        <p:spPr>
          <a:xfrm>
            <a:off x="9505950" y="1047749"/>
            <a:ext cx="2305050" cy="5476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2928A-66B5-DB2D-8612-EDD3C872D469}"/>
              </a:ext>
            </a:extLst>
          </p:cNvPr>
          <p:cNvSpPr txBox="1"/>
          <p:nvPr/>
        </p:nvSpPr>
        <p:spPr>
          <a:xfrm>
            <a:off x="1038225" y="863083"/>
            <a:ext cx="91384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dirty="0"/>
              <a:t>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748E57-74C2-0969-4910-A57C856D4F3A}"/>
              </a:ext>
            </a:extLst>
          </p:cNvPr>
          <p:cNvSpPr txBox="1"/>
          <p:nvPr/>
        </p:nvSpPr>
        <p:spPr>
          <a:xfrm>
            <a:off x="5223774" y="863083"/>
            <a:ext cx="17444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dirty="0"/>
              <a:t>Data Warehouse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36528-E675-193C-95DF-053E99018B4D}"/>
              </a:ext>
            </a:extLst>
          </p:cNvPr>
          <p:cNvSpPr txBox="1"/>
          <p:nvPr/>
        </p:nvSpPr>
        <p:spPr>
          <a:xfrm>
            <a:off x="10126919" y="863083"/>
            <a:ext cx="10631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dirty="0"/>
              <a:t>Consume</a:t>
            </a:r>
          </a:p>
        </p:txBody>
      </p:sp>
      <p:pic>
        <p:nvPicPr>
          <p:cNvPr id="1026" name="Picture 2" descr="CRM - Free computer icons">
            <a:extLst>
              <a:ext uri="{FF2B5EF4-FFF2-40B4-BE49-F238E27FC236}">
                <a16:creationId xmlns:a16="http://schemas.microsoft.com/office/drawing/2014/main" id="{C2C6CB52-FEA8-8671-3932-602D43053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064" y="203251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rp - Free communications icons">
            <a:extLst>
              <a:ext uri="{FF2B5EF4-FFF2-40B4-BE49-F238E27FC236}">
                <a16:creationId xmlns:a16="http://schemas.microsoft.com/office/drawing/2014/main" id="{7C5E6428-72BB-6D52-A978-F814372CF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151" y="3037400"/>
            <a:ext cx="657225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8B99C7A-2061-9B61-B6D6-056BDA1F3219}"/>
              </a:ext>
            </a:extLst>
          </p:cNvPr>
          <p:cNvSpPr/>
          <p:nvPr/>
        </p:nvSpPr>
        <p:spPr>
          <a:xfrm>
            <a:off x="454539" y="4356613"/>
            <a:ext cx="2076450" cy="2044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871710-A39A-D6F4-2C3E-98A313017936}"/>
              </a:ext>
            </a:extLst>
          </p:cNvPr>
          <p:cNvSpPr txBox="1"/>
          <p:nvPr/>
        </p:nvSpPr>
        <p:spPr>
          <a:xfrm>
            <a:off x="618613" y="4541278"/>
            <a:ext cx="1748299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sz="1200" b="1" dirty="0"/>
              <a:t>Object Type: </a:t>
            </a:r>
            <a:r>
              <a:rPr lang="en-MY" sz="1200" dirty="0"/>
              <a:t>CSV Files</a:t>
            </a:r>
          </a:p>
          <a:p>
            <a:endParaRPr lang="en-MY" sz="1200" dirty="0"/>
          </a:p>
          <a:p>
            <a:r>
              <a:rPr lang="en-MY" sz="1200" b="1" dirty="0"/>
              <a:t>Interface: </a:t>
            </a:r>
            <a:r>
              <a:rPr lang="en-MY" sz="1200" dirty="0"/>
              <a:t>Files in Folders</a:t>
            </a:r>
            <a:endParaRPr lang="en-MY" sz="1200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E324E6D-B6B0-500A-0247-D12C7F10C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755" y="728185"/>
            <a:ext cx="1162050" cy="63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A086F3-997F-1C7A-EEDA-E8D16C1337D1}"/>
              </a:ext>
            </a:extLst>
          </p:cNvPr>
          <p:cNvSpPr txBox="1"/>
          <p:nvPr/>
        </p:nvSpPr>
        <p:spPr>
          <a:xfrm>
            <a:off x="5143136" y="333376"/>
            <a:ext cx="186762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b="1" dirty="0"/>
              <a:t>Data Architecture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4DAA4C-5D1F-8777-3D69-FB245DED553C}"/>
              </a:ext>
            </a:extLst>
          </p:cNvPr>
          <p:cNvSpPr/>
          <p:nvPr/>
        </p:nvSpPr>
        <p:spPr>
          <a:xfrm>
            <a:off x="3307035" y="1862998"/>
            <a:ext cx="1755287" cy="4318899"/>
          </a:xfrm>
          <a:prstGeom prst="rect">
            <a:avLst/>
          </a:prstGeom>
          <a:solidFill>
            <a:schemeClr val="bg1"/>
          </a:solidFill>
          <a:ln>
            <a:solidFill>
              <a:srgbClr val="CD7F3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2E242274-D6E7-3DB0-7355-482DC04F9F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4388" y="2203368"/>
            <a:ext cx="567298" cy="56729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5250A45-3724-8324-3AA4-347EE2C2B488}"/>
              </a:ext>
            </a:extLst>
          </p:cNvPr>
          <p:cNvSpPr/>
          <p:nvPr/>
        </p:nvSpPr>
        <p:spPr>
          <a:xfrm>
            <a:off x="5215722" y="1862998"/>
            <a:ext cx="1752503" cy="43189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C0D88C-771B-4BDE-5EF0-81A4F4FAE420}"/>
              </a:ext>
            </a:extLst>
          </p:cNvPr>
          <p:cNvSpPr/>
          <p:nvPr/>
        </p:nvSpPr>
        <p:spPr>
          <a:xfrm>
            <a:off x="7121625" y="1862996"/>
            <a:ext cx="1752503" cy="4318901"/>
          </a:xfrm>
          <a:prstGeom prst="rect">
            <a:avLst/>
          </a:prstGeom>
          <a:solidFill>
            <a:schemeClr val="bg1"/>
          </a:solidFill>
          <a:ln>
            <a:solidFill>
              <a:srgbClr val="FFD7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0" name="Graphic 19" descr="Database with solid fill">
            <a:extLst>
              <a:ext uri="{FF2B5EF4-FFF2-40B4-BE49-F238E27FC236}">
                <a16:creationId xmlns:a16="http://schemas.microsoft.com/office/drawing/2014/main" id="{CFD9C280-8B4B-1C02-3C50-61FF9BFB2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3300" y="2203368"/>
            <a:ext cx="567298" cy="567298"/>
          </a:xfrm>
          <a:prstGeom prst="rect">
            <a:avLst/>
          </a:prstGeom>
        </p:spPr>
      </p:pic>
      <p:pic>
        <p:nvPicPr>
          <p:cNvPr id="21" name="Graphic 20" descr="Database with solid fill">
            <a:extLst>
              <a:ext uri="{FF2B5EF4-FFF2-40B4-BE49-F238E27FC236}">
                <a16:creationId xmlns:a16="http://schemas.microsoft.com/office/drawing/2014/main" id="{B963B5D2-D9D3-BB40-4324-6955435BD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24558" y="2203368"/>
            <a:ext cx="567298" cy="56729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61E1413-44A5-D63B-B2DD-6904F2324039}"/>
              </a:ext>
            </a:extLst>
          </p:cNvPr>
          <p:cNvSpPr txBox="1"/>
          <p:nvPr/>
        </p:nvSpPr>
        <p:spPr>
          <a:xfrm>
            <a:off x="3469201" y="3193455"/>
            <a:ext cx="1441164" cy="193899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sz="1200" b="1" dirty="0"/>
              <a:t>Object Type: </a:t>
            </a:r>
            <a:r>
              <a:rPr lang="en-MY" sz="1200" dirty="0"/>
              <a:t>Tables</a:t>
            </a:r>
          </a:p>
          <a:p>
            <a:endParaRPr lang="en-MY" sz="1200" dirty="0"/>
          </a:p>
          <a:p>
            <a:r>
              <a:rPr lang="en-MY" sz="1200" b="1" dirty="0"/>
              <a:t>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Batch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Full 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Truncate &amp; Insert</a:t>
            </a:r>
          </a:p>
          <a:p>
            <a:endParaRPr lang="en-MY" sz="1200" dirty="0"/>
          </a:p>
          <a:p>
            <a:r>
              <a:rPr lang="en-MY" sz="1200" dirty="0"/>
              <a:t>No </a:t>
            </a:r>
            <a:r>
              <a:rPr lang="en-MY" sz="1200" b="1" dirty="0"/>
              <a:t>Transformations</a:t>
            </a:r>
          </a:p>
          <a:p>
            <a:endParaRPr lang="en-MY" sz="1200" b="1" dirty="0"/>
          </a:p>
          <a:p>
            <a:r>
              <a:rPr lang="en-MY" sz="1200" b="1" dirty="0"/>
              <a:t>Data Model: </a:t>
            </a:r>
            <a:r>
              <a:rPr lang="en-MY" sz="1200" dirty="0"/>
              <a:t>None</a:t>
            </a:r>
            <a:endParaRPr lang="en-MY" sz="12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F8A35F-AFD0-CB67-D01B-8455EB54B642}"/>
              </a:ext>
            </a:extLst>
          </p:cNvPr>
          <p:cNvSpPr txBox="1"/>
          <p:nvPr/>
        </p:nvSpPr>
        <p:spPr>
          <a:xfrm>
            <a:off x="5234420" y="3193455"/>
            <a:ext cx="1656223" cy="286232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sz="1200" b="1" dirty="0"/>
              <a:t>Object Type: </a:t>
            </a:r>
            <a:r>
              <a:rPr lang="en-MY" sz="1200" dirty="0"/>
              <a:t>Tables</a:t>
            </a:r>
          </a:p>
          <a:p>
            <a:endParaRPr lang="en-MY" sz="1200" dirty="0"/>
          </a:p>
          <a:p>
            <a:r>
              <a:rPr lang="en-MY" sz="1200" b="1" dirty="0"/>
              <a:t>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Batch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Full 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Truncate &amp; Insert</a:t>
            </a:r>
          </a:p>
          <a:p>
            <a:endParaRPr lang="en-MY" sz="1200" dirty="0"/>
          </a:p>
          <a:p>
            <a:r>
              <a:rPr lang="en-MY" sz="1200" b="1" dirty="0"/>
              <a:t>Transformations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Data Cleansing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Data Standardization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Data Normalization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Delivered Columns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Data Enrichment</a:t>
            </a:r>
          </a:p>
          <a:p>
            <a:endParaRPr lang="en-MY" sz="1200" b="1" dirty="0"/>
          </a:p>
          <a:p>
            <a:r>
              <a:rPr lang="en-MY" sz="1200" b="1" dirty="0"/>
              <a:t>Data Model: </a:t>
            </a:r>
            <a:r>
              <a:rPr lang="en-MY" sz="1200" dirty="0"/>
              <a:t>None</a:t>
            </a:r>
            <a:endParaRPr lang="en-MY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8521B1-61D4-CF6B-8C91-37F631DBE83F}"/>
              </a:ext>
            </a:extLst>
          </p:cNvPr>
          <p:cNvSpPr txBox="1"/>
          <p:nvPr/>
        </p:nvSpPr>
        <p:spPr>
          <a:xfrm>
            <a:off x="7159725" y="3193455"/>
            <a:ext cx="1433982" cy="249299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sz="1200" b="1" dirty="0"/>
              <a:t>Object Type: </a:t>
            </a:r>
            <a:r>
              <a:rPr lang="en-MY" sz="1200" dirty="0"/>
              <a:t>Views</a:t>
            </a:r>
          </a:p>
          <a:p>
            <a:endParaRPr lang="en-MY" sz="1200" dirty="0"/>
          </a:p>
          <a:p>
            <a:r>
              <a:rPr lang="en-MY" sz="1200" b="1" dirty="0"/>
              <a:t>No Load</a:t>
            </a:r>
            <a:endParaRPr lang="en-MY" sz="1200" dirty="0"/>
          </a:p>
          <a:p>
            <a:endParaRPr lang="en-MY" sz="1200" dirty="0"/>
          </a:p>
          <a:p>
            <a:r>
              <a:rPr lang="en-MY" sz="1200" b="1" dirty="0"/>
              <a:t>Transformations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Data Integrations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Aggregations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Business Logics</a:t>
            </a:r>
          </a:p>
          <a:p>
            <a:endParaRPr lang="en-MY" sz="1200" b="1" dirty="0"/>
          </a:p>
          <a:p>
            <a:r>
              <a:rPr lang="en-MY" sz="1200" b="1" dirty="0"/>
              <a:t>Data Model: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Star Schemas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Flat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dirty="0"/>
              <a:t>Aggregated 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1DF77A-81E0-3DCA-C96B-146FEAF37CCD}"/>
              </a:ext>
            </a:extLst>
          </p:cNvPr>
          <p:cNvSpPr txBox="1"/>
          <p:nvPr/>
        </p:nvSpPr>
        <p:spPr>
          <a:xfrm>
            <a:off x="3789693" y="2781558"/>
            <a:ext cx="776687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sz="1200" dirty="0"/>
              <a:t>Raw 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7A73AD-1787-FADE-8333-63903F64AEED}"/>
              </a:ext>
            </a:extLst>
          </p:cNvPr>
          <p:cNvSpPr txBox="1"/>
          <p:nvPr/>
        </p:nvSpPr>
        <p:spPr>
          <a:xfrm>
            <a:off x="5341118" y="2731790"/>
            <a:ext cx="158176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Cleaned, Standardized 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262456-7FF0-A2E9-C397-9FD579BAE1E9}"/>
              </a:ext>
            </a:extLst>
          </p:cNvPr>
          <p:cNvSpPr txBox="1"/>
          <p:nvPr/>
        </p:nvSpPr>
        <p:spPr>
          <a:xfrm>
            <a:off x="7270441" y="2781558"/>
            <a:ext cx="147553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sz="1200" dirty="0"/>
              <a:t>Business-Ready Data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D4B07B-036C-758F-13C0-21C215C55E5A}"/>
              </a:ext>
            </a:extLst>
          </p:cNvPr>
          <p:cNvSpPr/>
          <p:nvPr/>
        </p:nvSpPr>
        <p:spPr>
          <a:xfrm>
            <a:off x="3307035" y="1435354"/>
            <a:ext cx="1755287" cy="359601"/>
          </a:xfrm>
          <a:prstGeom prst="rect">
            <a:avLst/>
          </a:prstGeom>
          <a:solidFill>
            <a:srgbClr val="CD7F32"/>
          </a:solidFill>
          <a:ln>
            <a:solidFill>
              <a:srgbClr val="CD7F3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chemeClr val="tx1"/>
                </a:solidFill>
              </a:rPr>
              <a:t>Bronze Layer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D90CF6-3904-7BC2-0037-3CCEABDD91D5}"/>
              </a:ext>
            </a:extLst>
          </p:cNvPr>
          <p:cNvSpPr/>
          <p:nvPr/>
        </p:nvSpPr>
        <p:spPr>
          <a:xfrm>
            <a:off x="5223774" y="1430861"/>
            <a:ext cx="1755287" cy="359601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chemeClr val="tx1"/>
                </a:solidFill>
              </a:rPr>
              <a:t>Silver Layer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6707ED-F6A0-D937-77B7-4478A031B237}"/>
              </a:ext>
            </a:extLst>
          </p:cNvPr>
          <p:cNvSpPr/>
          <p:nvPr/>
        </p:nvSpPr>
        <p:spPr>
          <a:xfrm>
            <a:off x="7118841" y="1430860"/>
            <a:ext cx="1755287" cy="359601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chemeClr val="tx1"/>
                </a:solidFill>
              </a:rPr>
              <a:t>Gold Layer</a:t>
            </a:r>
          </a:p>
        </p:txBody>
      </p:sp>
      <p:pic>
        <p:nvPicPr>
          <p:cNvPr id="1034" name="Picture 10" descr="Master Your Database Skills: The Definitive Guide to Stored Procedures with  Real-World Applications | by Saquib Khan | Medium">
            <a:extLst>
              <a:ext uri="{FF2B5EF4-FFF2-40B4-BE49-F238E27FC236}">
                <a16:creationId xmlns:a16="http://schemas.microsoft.com/office/drawing/2014/main" id="{C72A8A1A-6595-DA66-279D-41C918D976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9" t="19282" r="17426" b="28222"/>
          <a:stretch>
            <a:fillRect/>
          </a:stretch>
        </p:blipFill>
        <p:spPr bwMode="auto">
          <a:xfrm>
            <a:off x="3412956" y="2031618"/>
            <a:ext cx="608824" cy="20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0" descr="Master Your Database Skills: The Definitive Guide to Stored Procedures with  Real-World Applications | by Saquib Khan | Medium">
            <a:extLst>
              <a:ext uri="{FF2B5EF4-FFF2-40B4-BE49-F238E27FC236}">
                <a16:creationId xmlns:a16="http://schemas.microsoft.com/office/drawing/2014/main" id="{BBA77BAC-499F-291E-A293-DB774336DC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9" t="19282" r="17426" b="28222"/>
          <a:stretch>
            <a:fillRect/>
          </a:stretch>
        </p:blipFill>
        <p:spPr bwMode="auto">
          <a:xfrm>
            <a:off x="5360843" y="2045239"/>
            <a:ext cx="608824" cy="20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CC57E0C-4FCD-E512-ECC3-BEE8D69BB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328" y="2135062"/>
            <a:ext cx="481013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Tableau icon transparent - High-Quality ...">
            <a:extLst>
              <a:ext uri="{FF2B5EF4-FFF2-40B4-BE49-F238E27FC236}">
                <a16:creationId xmlns:a16="http://schemas.microsoft.com/office/drawing/2014/main" id="{51F51A6C-F519-BC18-1D36-0071FE5EB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159" y="2099472"/>
            <a:ext cx="531556" cy="53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415DA81-0498-AC0F-C9E5-0610B87A7BF6}"/>
              </a:ext>
            </a:extLst>
          </p:cNvPr>
          <p:cNvSpPr txBox="1"/>
          <p:nvPr/>
        </p:nvSpPr>
        <p:spPr>
          <a:xfrm>
            <a:off x="9923279" y="2731790"/>
            <a:ext cx="158176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BI &amp; Reporting</a:t>
            </a:r>
          </a:p>
        </p:txBody>
      </p:sp>
      <p:pic>
        <p:nvPicPr>
          <p:cNvPr id="1040" name="Picture 16" descr="Download HD Data Analysis - Ad Hoc Analysis Icon Transparent PNG Image -  NicePNG.com">
            <a:extLst>
              <a:ext uri="{FF2B5EF4-FFF2-40B4-BE49-F238E27FC236}">
                <a16:creationId xmlns:a16="http://schemas.microsoft.com/office/drawing/2014/main" id="{67085FB7-67BD-F0D3-AA3D-43BFF6255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768" y="3366012"/>
            <a:ext cx="957263" cy="65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6A5FF5-20F8-CDA5-E2E2-B68EE7316569}"/>
              </a:ext>
            </a:extLst>
          </p:cNvPr>
          <p:cNvSpPr txBox="1"/>
          <p:nvPr/>
        </p:nvSpPr>
        <p:spPr>
          <a:xfrm>
            <a:off x="9920519" y="4157759"/>
            <a:ext cx="158176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Ad-Hoc </a:t>
            </a:r>
          </a:p>
          <a:p>
            <a:pPr algn="ctr"/>
            <a:r>
              <a:rPr lang="en-MY" sz="1200" dirty="0"/>
              <a:t>SQL Queries</a:t>
            </a:r>
          </a:p>
        </p:txBody>
      </p:sp>
      <p:pic>
        <p:nvPicPr>
          <p:cNvPr id="1042" name="Picture 18" descr="Machine learning Generic Flat icon | Freepik">
            <a:extLst>
              <a:ext uri="{FF2B5EF4-FFF2-40B4-BE49-F238E27FC236}">
                <a16:creationId xmlns:a16="http://schemas.microsoft.com/office/drawing/2014/main" id="{96B9F4CD-D1C9-4AFA-A950-AEE742A46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775" y="5132447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BD477C5-0CC1-41C8-144C-FFC32124C195}"/>
              </a:ext>
            </a:extLst>
          </p:cNvPr>
          <p:cNvSpPr txBox="1"/>
          <p:nvPr/>
        </p:nvSpPr>
        <p:spPr>
          <a:xfrm>
            <a:off x="9867595" y="5824944"/>
            <a:ext cx="158176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Machine Learning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6B02DBD-BC72-63F9-D356-0B321A4A540F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647950" y="3786187"/>
            <a:ext cx="4619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5A2FE7-92A8-7885-5B6A-616B363BBBB9}"/>
              </a:ext>
            </a:extLst>
          </p:cNvPr>
          <p:cNvCxnSpPr>
            <a:cxnSpLocks/>
          </p:cNvCxnSpPr>
          <p:nvPr/>
        </p:nvCxnSpPr>
        <p:spPr>
          <a:xfrm>
            <a:off x="5070949" y="3786186"/>
            <a:ext cx="1634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AE4DFF-7046-DBFC-6763-5D563FE7D331}"/>
              </a:ext>
            </a:extLst>
          </p:cNvPr>
          <p:cNvCxnSpPr>
            <a:cxnSpLocks/>
          </p:cNvCxnSpPr>
          <p:nvPr/>
        </p:nvCxnSpPr>
        <p:spPr>
          <a:xfrm>
            <a:off x="6968225" y="3786186"/>
            <a:ext cx="1614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931952A-CA4B-E92D-0413-FB11F10F4A2E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043987" y="3786187"/>
            <a:ext cx="461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54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C986375D-4BA7-CBA3-08B4-32D7BE07135D}"/>
              </a:ext>
            </a:extLst>
          </p:cNvPr>
          <p:cNvGrpSpPr/>
          <p:nvPr/>
        </p:nvGrpSpPr>
        <p:grpSpPr>
          <a:xfrm>
            <a:off x="1028700" y="1424028"/>
            <a:ext cx="10134600" cy="4746543"/>
            <a:chOff x="342900" y="503482"/>
            <a:chExt cx="10134600" cy="47465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2AC1F7-6BA3-7A6C-16E4-3AAFDC24060F}"/>
                </a:ext>
              </a:extLst>
            </p:cNvPr>
            <p:cNvSpPr/>
            <p:nvPr/>
          </p:nvSpPr>
          <p:spPr>
            <a:xfrm>
              <a:off x="342900" y="1047751"/>
              <a:ext cx="2305050" cy="35750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85B1BC-2B35-B8CA-A35A-894AC0F7B3F8}"/>
                </a:ext>
              </a:extLst>
            </p:cNvPr>
            <p:cNvSpPr txBox="1"/>
            <p:nvPr/>
          </p:nvSpPr>
          <p:spPr>
            <a:xfrm>
              <a:off x="1038225" y="863083"/>
              <a:ext cx="91384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MY" dirty="0"/>
                <a:t>Sources</a:t>
              </a:r>
            </a:p>
          </p:txBody>
        </p:sp>
        <p:pic>
          <p:nvPicPr>
            <p:cNvPr id="6" name="Picture 2" descr="CRM - Free computer icons">
              <a:extLst>
                <a:ext uri="{FF2B5EF4-FFF2-40B4-BE49-F238E27FC236}">
                  <a16:creationId xmlns:a16="http://schemas.microsoft.com/office/drawing/2014/main" id="{64802C94-4B68-F159-CAD6-5150974295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6064" y="2032514"/>
              <a:ext cx="533400" cy="533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Erp - Free communications icons">
              <a:extLst>
                <a:ext uri="{FF2B5EF4-FFF2-40B4-BE49-F238E27FC236}">
                  <a16:creationId xmlns:a16="http://schemas.microsoft.com/office/drawing/2014/main" id="{28DFF517-99D9-9DD8-664F-3D40CFFD5C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4151" y="3037400"/>
              <a:ext cx="657225" cy="657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B5A7322-CA75-8B0F-8C2A-D04C7BFCB001}"/>
                </a:ext>
              </a:extLst>
            </p:cNvPr>
            <p:cNvSpPr/>
            <p:nvPr/>
          </p:nvSpPr>
          <p:spPr>
            <a:xfrm>
              <a:off x="3103835" y="931126"/>
              <a:ext cx="2153965" cy="431889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D7F3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B9E263-7D1B-65FE-D76C-7AF380082245}"/>
                </a:ext>
              </a:extLst>
            </p:cNvPr>
            <p:cNvSpPr/>
            <p:nvPr/>
          </p:nvSpPr>
          <p:spPr>
            <a:xfrm>
              <a:off x="3103835" y="503482"/>
              <a:ext cx="2153965" cy="359601"/>
            </a:xfrm>
            <a:prstGeom prst="rect">
              <a:avLst/>
            </a:prstGeom>
            <a:solidFill>
              <a:srgbClr val="CD7F32"/>
            </a:solidFill>
            <a:ln>
              <a:solidFill>
                <a:srgbClr val="CD7F3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>
                  <a:solidFill>
                    <a:schemeClr val="tx1"/>
                  </a:solidFill>
                </a:rPr>
                <a:t>Bronze Layer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DE37E1C-FF28-0D67-8799-16BAA81937F7}"/>
                </a:ext>
              </a:extLst>
            </p:cNvPr>
            <p:cNvSpPr/>
            <p:nvPr/>
          </p:nvSpPr>
          <p:spPr>
            <a:xfrm>
              <a:off x="3343275" y="1232415"/>
              <a:ext cx="1755287" cy="359601"/>
            </a:xfrm>
            <a:prstGeom prst="roundRect">
              <a:avLst/>
            </a:prstGeom>
            <a:solidFill>
              <a:srgbClr val="CD7F32"/>
            </a:solidFill>
            <a:ln>
              <a:solidFill>
                <a:srgbClr val="CD7F3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 err="1">
                  <a:solidFill>
                    <a:schemeClr val="tx1"/>
                  </a:solidFill>
                </a:rPr>
                <a:t>crm_sales_details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3C34FC2-D1BE-8A5D-DAFE-FE78DF69A722}"/>
                </a:ext>
              </a:extLst>
            </p:cNvPr>
            <p:cNvSpPr/>
            <p:nvPr/>
          </p:nvSpPr>
          <p:spPr>
            <a:xfrm>
              <a:off x="3343275" y="1713504"/>
              <a:ext cx="1755287" cy="359601"/>
            </a:xfrm>
            <a:prstGeom prst="roundRect">
              <a:avLst/>
            </a:prstGeom>
            <a:solidFill>
              <a:srgbClr val="CD7F32"/>
            </a:solidFill>
            <a:ln>
              <a:solidFill>
                <a:srgbClr val="CD7F3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 err="1">
                  <a:solidFill>
                    <a:schemeClr val="tx1"/>
                  </a:solidFill>
                </a:rPr>
                <a:t>crm_cust_info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4632CD3-F59E-0237-EC95-8B2AB9F99FA4}"/>
                </a:ext>
              </a:extLst>
            </p:cNvPr>
            <p:cNvSpPr/>
            <p:nvPr/>
          </p:nvSpPr>
          <p:spPr>
            <a:xfrm>
              <a:off x="3343275" y="2194593"/>
              <a:ext cx="1755287" cy="359601"/>
            </a:xfrm>
            <a:prstGeom prst="roundRect">
              <a:avLst/>
            </a:prstGeom>
            <a:solidFill>
              <a:srgbClr val="CD7F32"/>
            </a:solidFill>
            <a:ln>
              <a:solidFill>
                <a:srgbClr val="CD7F3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 err="1">
                  <a:solidFill>
                    <a:schemeClr val="tx1"/>
                  </a:solidFill>
                </a:rPr>
                <a:t>crm_prd_info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2B95138-B63E-550A-E84D-0F18DC91E34D}"/>
                </a:ext>
              </a:extLst>
            </p:cNvPr>
            <p:cNvSpPr/>
            <p:nvPr/>
          </p:nvSpPr>
          <p:spPr>
            <a:xfrm>
              <a:off x="3343275" y="3301022"/>
              <a:ext cx="1755287" cy="359601"/>
            </a:xfrm>
            <a:prstGeom prst="roundRect">
              <a:avLst/>
            </a:prstGeom>
            <a:solidFill>
              <a:srgbClr val="CD7F32"/>
            </a:solidFill>
            <a:ln>
              <a:solidFill>
                <a:srgbClr val="CD7F3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>
                  <a:solidFill>
                    <a:schemeClr val="tx1"/>
                  </a:solidFill>
                </a:rPr>
                <a:t>erp_cust_az12	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7343811-E134-F71E-FA71-0AC922C0C11A}"/>
                </a:ext>
              </a:extLst>
            </p:cNvPr>
            <p:cNvSpPr/>
            <p:nvPr/>
          </p:nvSpPr>
          <p:spPr>
            <a:xfrm>
              <a:off x="3343275" y="3782111"/>
              <a:ext cx="1755287" cy="359601"/>
            </a:xfrm>
            <a:prstGeom prst="roundRect">
              <a:avLst/>
            </a:prstGeom>
            <a:solidFill>
              <a:srgbClr val="CD7F32"/>
            </a:solidFill>
            <a:ln>
              <a:solidFill>
                <a:srgbClr val="CD7F3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>
                  <a:solidFill>
                    <a:schemeClr val="tx1"/>
                  </a:solidFill>
                </a:rPr>
                <a:t>erp_loc_a101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56F3A2C-8A0A-5335-4677-E6363FE42ADF}"/>
                </a:ext>
              </a:extLst>
            </p:cNvPr>
            <p:cNvSpPr/>
            <p:nvPr/>
          </p:nvSpPr>
          <p:spPr>
            <a:xfrm>
              <a:off x="3343275" y="4263200"/>
              <a:ext cx="1755287" cy="359601"/>
            </a:xfrm>
            <a:prstGeom prst="roundRect">
              <a:avLst/>
            </a:prstGeom>
            <a:solidFill>
              <a:srgbClr val="CD7F32"/>
            </a:solidFill>
            <a:ln>
              <a:solidFill>
                <a:srgbClr val="CD7F3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>
                  <a:solidFill>
                    <a:schemeClr val="tx1"/>
                  </a:solidFill>
                </a:rPr>
                <a:t>erp_px_cat_g1v2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A54538F-867C-5727-716D-D6444EC7E676}"/>
                </a:ext>
              </a:extLst>
            </p:cNvPr>
            <p:cNvSpPr/>
            <p:nvPr/>
          </p:nvSpPr>
          <p:spPr>
            <a:xfrm>
              <a:off x="5713685" y="931126"/>
              <a:ext cx="2153965" cy="431889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C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D3DC46-4677-23A6-B322-866DE4CA1E59}"/>
                </a:ext>
              </a:extLst>
            </p:cNvPr>
            <p:cNvSpPr/>
            <p:nvPr/>
          </p:nvSpPr>
          <p:spPr>
            <a:xfrm>
              <a:off x="5713685" y="503482"/>
              <a:ext cx="2153965" cy="359601"/>
            </a:xfrm>
            <a:prstGeom prst="rect">
              <a:avLst/>
            </a:prstGeom>
            <a:solidFill>
              <a:srgbClr val="C0C0C0"/>
            </a:solidFill>
            <a:ln>
              <a:solidFill>
                <a:srgbClr val="C0C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>
                  <a:solidFill>
                    <a:schemeClr val="tx1"/>
                  </a:solidFill>
                </a:rPr>
                <a:t>Silver Layer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9EED47D-1002-13CE-ABA1-E82BA6BE2661}"/>
                </a:ext>
              </a:extLst>
            </p:cNvPr>
            <p:cNvSpPr/>
            <p:nvPr/>
          </p:nvSpPr>
          <p:spPr>
            <a:xfrm>
              <a:off x="5953125" y="1232415"/>
              <a:ext cx="1755287" cy="359601"/>
            </a:xfrm>
            <a:prstGeom prst="roundRect">
              <a:avLst/>
            </a:prstGeom>
            <a:solidFill>
              <a:srgbClr val="C0C0C0"/>
            </a:solidFill>
            <a:ln>
              <a:solidFill>
                <a:srgbClr val="C0C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 err="1">
                  <a:solidFill>
                    <a:schemeClr val="tx1"/>
                  </a:solidFill>
                </a:rPr>
                <a:t>crm_sales_details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6920A19-B76B-0706-3866-730A8232D59D}"/>
                </a:ext>
              </a:extLst>
            </p:cNvPr>
            <p:cNvSpPr/>
            <p:nvPr/>
          </p:nvSpPr>
          <p:spPr>
            <a:xfrm>
              <a:off x="5953125" y="1713504"/>
              <a:ext cx="1755287" cy="359601"/>
            </a:xfrm>
            <a:prstGeom prst="roundRect">
              <a:avLst/>
            </a:prstGeom>
            <a:solidFill>
              <a:srgbClr val="C0C0C0"/>
            </a:solidFill>
            <a:ln>
              <a:solidFill>
                <a:srgbClr val="C0C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 err="1">
                  <a:solidFill>
                    <a:schemeClr val="tx1"/>
                  </a:solidFill>
                </a:rPr>
                <a:t>crm_cust_info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DDE41AA-C1D9-FFE2-6FB9-B5CB921848DF}"/>
                </a:ext>
              </a:extLst>
            </p:cNvPr>
            <p:cNvSpPr/>
            <p:nvPr/>
          </p:nvSpPr>
          <p:spPr>
            <a:xfrm>
              <a:off x="5953125" y="2194593"/>
              <a:ext cx="1755287" cy="359601"/>
            </a:xfrm>
            <a:prstGeom prst="roundRect">
              <a:avLst/>
            </a:prstGeom>
            <a:solidFill>
              <a:srgbClr val="C0C0C0"/>
            </a:solidFill>
            <a:ln>
              <a:solidFill>
                <a:srgbClr val="C0C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 err="1">
                  <a:solidFill>
                    <a:schemeClr val="tx1"/>
                  </a:solidFill>
                </a:rPr>
                <a:t>crm_prd_info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BBF88DE-91D7-6570-9259-2E88C021F36D}"/>
                </a:ext>
              </a:extLst>
            </p:cNvPr>
            <p:cNvSpPr/>
            <p:nvPr/>
          </p:nvSpPr>
          <p:spPr>
            <a:xfrm>
              <a:off x="5953125" y="3301022"/>
              <a:ext cx="1755287" cy="359601"/>
            </a:xfrm>
            <a:prstGeom prst="roundRect">
              <a:avLst/>
            </a:prstGeom>
            <a:solidFill>
              <a:srgbClr val="C0C0C0"/>
            </a:solidFill>
            <a:ln>
              <a:solidFill>
                <a:srgbClr val="C0C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>
                  <a:solidFill>
                    <a:schemeClr val="tx1"/>
                  </a:solidFill>
                </a:rPr>
                <a:t>erp_cust_az12	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A356AD6-5C8A-280F-7307-D0C6F971FD11}"/>
                </a:ext>
              </a:extLst>
            </p:cNvPr>
            <p:cNvSpPr/>
            <p:nvPr/>
          </p:nvSpPr>
          <p:spPr>
            <a:xfrm>
              <a:off x="5953125" y="3782111"/>
              <a:ext cx="1755287" cy="359601"/>
            </a:xfrm>
            <a:prstGeom prst="roundRect">
              <a:avLst/>
            </a:prstGeom>
            <a:solidFill>
              <a:srgbClr val="C0C0C0"/>
            </a:solidFill>
            <a:ln>
              <a:solidFill>
                <a:srgbClr val="C0C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>
                  <a:solidFill>
                    <a:schemeClr val="tx1"/>
                  </a:solidFill>
                </a:rPr>
                <a:t>erp_loc_a101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89976E4-38D5-F993-6A91-FD3B27D8CA0C}"/>
                </a:ext>
              </a:extLst>
            </p:cNvPr>
            <p:cNvSpPr/>
            <p:nvPr/>
          </p:nvSpPr>
          <p:spPr>
            <a:xfrm>
              <a:off x="5953125" y="4263200"/>
              <a:ext cx="1755287" cy="359601"/>
            </a:xfrm>
            <a:prstGeom prst="roundRect">
              <a:avLst/>
            </a:prstGeom>
            <a:solidFill>
              <a:srgbClr val="C0C0C0"/>
            </a:solidFill>
            <a:ln>
              <a:solidFill>
                <a:srgbClr val="C0C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>
                  <a:solidFill>
                    <a:schemeClr val="tx1"/>
                  </a:solidFill>
                </a:rPr>
                <a:t>erp_px_cat_g1v2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415586C-00DC-05AA-04C0-3C1CFA8D5AC7}"/>
                </a:ext>
              </a:extLst>
            </p:cNvPr>
            <p:cNvSpPr/>
            <p:nvPr/>
          </p:nvSpPr>
          <p:spPr>
            <a:xfrm>
              <a:off x="8323535" y="931126"/>
              <a:ext cx="2153965" cy="431889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D7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6E4F83C-4C3F-D8C9-F89F-F80322E4045E}"/>
                </a:ext>
              </a:extLst>
            </p:cNvPr>
            <p:cNvSpPr/>
            <p:nvPr/>
          </p:nvSpPr>
          <p:spPr>
            <a:xfrm>
              <a:off x="8323535" y="503482"/>
              <a:ext cx="2153965" cy="359601"/>
            </a:xfrm>
            <a:prstGeom prst="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>
                  <a:solidFill>
                    <a:schemeClr val="tx1"/>
                  </a:solidFill>
                </a:rPr>
                <a:t>Gold Layer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F934140-5ACD-AA15-8EEE-CB321B35368A}"/>
                </a:ext>
              </a:extLst>
            </p:cNvPr>
            <p:cNvSpPr/>
            <p:nvPr/>
          </p:nvSpPr>
          <p:spPr>
            <a:xfrm>
              <a:off x="8566785" y="1527536"/>
              <a:ext cx="1755287" cy="359601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 err="1">
                  <a:solidFill>
                    <a:schemeClr val="tx1"/>
                  </a:solidFill>
                </a:rPr>
                <a:t>fact_sales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4A388C0-F883-60F0-8355-A6FC4D35208D}"/>
                </a:ext>
              </a:extLst>
            </p:cNvPr>
            <p:cNvSpPr/>
            <p:nvPr/>
          </p:nvSpPr>
          <p:spPr>
            <a:xfrm>
              <a:off x="8576213" y="2796524"/>
              <a:ext cx="1755287" cy="359601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 err="1">
                  <a:solidFill>
                    <a:schemeClr val="tx1"/>
                  </a:solidFill>
                </a:rPr>
                <a:t>dim_customers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4F88AF9-84CB-984C-44A7-66CCCEA0815B}"/>
                </a:ext>
              </a:extLst>
            </p:cNvPr>
            <p:cNvSpPr/>
            <p:nvPr/>
          </p:nvSpPr>
          <p:spPr>
            <a:xfrm>
              <a:off x="8576213" y="4065512"/>
              <a:ext cx="1755287" cy="359601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1200" b="1" dirty="0" err="1">
                  <a:solidFill>
                    <a:schemeClr val="tx1"/>
                  </a:solidFill>
                </a:rPr>
                <a:t>dim_products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C50699DC-4896-48F3-FDBF-B71826F1FA2A}"/>
                </a:ext>
              </a:extLst>
            </p:cNvPr>
            <p:cNvCxnSpPr/>
            <p:nvPr/>
          </p:nvCxnSpPr>
          <p:spPr>
            <a:xfrm flipV="1">
              <a:off x="1759464" y="1409700"/>
              <a:ext cx="1583811" cy="88392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D363F1E2-3CCA-D3AE-A78D-C929C01378AF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1759464" y="1911026"/>
              <a:ext cx="1583811" cy="38818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BC5C850D-2471-E32C-C8DF-83B02004778C}"/>
                </a:ext>
              </a:extLst>
            </p:cNvPr>
            <p:cNvCxnSpPr>
              <a:cxnSpLocks/>
              <a:stCxn id="6" idx="3"/>
              <a:endCxn id="12" idx="1"/>
            </p:cNvCxnSpPr>
            <p:nvPr/>
          </p:nvCxnSpPr>
          <p:spPr>
            <a:xfrm>
              <a:off x="1759464" y="2299214"/>
              <a:ext cx="1583811" cy="7518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5BB7C564-C052-7BD0-77E0-901274A3F2A8}"/>
                </a:ext>
              </a:extLst>
            </p:cNvPr>
            <p:cNvCxnSpPr>
              <a:cxnSpLocks/>
              <a:stCxn id="7" idx="3"/>
              <a:endCxn id="13" idx="1"/>
            </p:cNvCxnSpPr>
            <p:nvPr/>
          </p:nvCxnSpPr>
          <p:spPr>
            <a:xfrm>
              <a:off x="1821376" y="3366013"/>
              <a:ext cx="1521899" cy="11481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4E05B39E-F450-5507-A8E1-2D69243351BC}"/>
                </a:ext>
              </a:extLst>
            </p:cNvPr>
            <p:cNvCxnSpPr>
              <a:cxnSpLocks/>
              <a:stCxn id="7" idx="3"/>
              <a:endCxn id="14" idx="1"/>
            </p:cNvCxnSpPr>
            <p:nvPr/>
          </p:nvCxnSpPr>
          <p:spPr>
            <a:xfrm>
              <a:off x="1821376" y="3366013"/>
              <a:ext cx="1521899" cy="59589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537FC2C4-0EE8-6AFD-1BE7-FC341B1407ED}"/>
                </a:ext>
              </a:extLst>
            </p:cNvPr>
            <p:cNvCxnSpPr>
              <a:cxnSpLocks/>
              <a:stCxn id="7" idx="3"/>
              <a:endCxn id="15" idx="1"/>
            </p:cNvCxnSpPr>
            <p:nvPr/>
          </p:nvCxnSpPr>
          <p:spPr>
            <a:xfrm>
              <a:off x="1821376" y="3366013"/>
              <a:ext cx="1521899" cy="107698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0E0C2B77-D919-558E-8D07-95A54CEC801D}"/>
                </a:ext>
              </a:extLst>
            </p:cNvPr>
            <p:cNvCxnSpPr>
              <a:cxnSpLocks/>
              <a:stCxn id="10" idx="3"/>
              <a:endCxn id="18" idx="1"/>
            </p:cNvCxnSpPr>
            <p:nvPr/>
          </p:nvCxnSpPr>
          <p:spPr>
            <a:xfrm>
              <a:off x="5098562" y="1412216"/>
              <a:ext cx="854563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018649BA-484A-55D5-488C-6921AB9A614D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5098562" y="1893305"/>
              <a:ext cx="854563" cy="1270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CF7F069D-CACD-81F8-9A6D-1000526A54EC}"/>
                </a:ext>
              </a:extLst>
            </p:cNvPr>
            <p:cNvCxnSpPr>
              <a:cxnSpLocks/>
              <a:stCxn id="12" idx="3"/>
              <a:endCxn id="20" idx="1"/>
            </p:cNvCxnSpPr>
            <p:nvPr/>
          </p:nvCxnSpPr>
          <p:spPr>
            <a:xfrm>
              <a:off x="5098562" y="2374394"/>
              <a:ext cx="854563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81BDDBD7-806D-905F-4743-BC5F62DA6D8E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 flipV="1">
              <a:off x="5098561" y="3480823"/>
              <a:ext cx="854564" cy="1739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0F99C5D7-3DD5-9EC6-208C-A3C6524A3093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5098561" y="3961912"/>
              <a:ext cx="854564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C99FC66A-21DC-FE9A-646C-BCA04723AF67}"/>
                </a:ext>
              </a:extLst>
            </p:cNvPr>
            <p:cNvCxnSpPr>
              <a:cxnSpLocks/>
              <a:stCxn id="15" idx="3"/>
              <a:endCxn id="23" idx="1"/>
            </p:cNvCxnSpPr>
            <p:nvPr/>
          </p:nvCxnSpPr>
          <p:spPr>
            <a:xfrm>
              <a:off x="5098562" y="4443001"/>
              <a:ext cx="854563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4046A27-D287-2CC3-C071-BE8917A4FFB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708412" y="1409700"/>
              <a:ext cx="858373" cy="2976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6966968F-D5F7-4C43-7455-432E2B69244D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>
              <a:off x="7708412" y="1906006"/>
              <a:ext cx="867801" cy="10703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F3B04B39-E913-E98A-9CBA-77004DF3040A}"/>
                </a:ext>
              </a:extLst>
            </p:cNvPr>
            <p:cNvCxnSpPr>
              <a:cxnSpLocks/>
              <a:stCxn id="20" idx="3"/>
              <a:endCxn id="30" idx="1"/>
            </p:cNvCxnSpPr>
            <p:nvPr/>
          </p:nvCxnSpPr>
          <p:spPr>
            <a:xfrm>
              <a:off x="7708412" y="2374394"/>
              <a:ext cx="867801" cy="18709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E74D90C1-425F-D1A1-BE40-CFF3C17EAB67}"/>
                </a:ext>
              </a:extLst>
            </p:cNvPr>
            <p:cNvCxnSpPr>
              <a:cxnSpLocks/>
              <a:stCxn id="21" idx="3"/>
              <a:endCxn id="29" idx="1"/>
            </p:cNvCxnSpPr>
            <p:nvPr/>
          </p:nvCxnSpPr>
          <p:spPr>
            <a:xfrm flipV="1">
              <a:off x="7708412" y="2976325"/>
              <a:ext cx="867801" cy="5044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E155EA41-36C6-6AC4-DC86-E25AC657226B}"/>
                </a:ext>
              </a:extLst>
            </p:cNvPr>
            <p:cNvCxnSpPr>
              <a:cxnSpLocks/>
              <a:stCxn id="22" idx="3"/>
              <a:endCxn id="29" idx="1"/>
            </p:cNvCxnSpPr>
            <p:nvPr/>
          </p:nvCxnSpPr>
          <p:spPr>
            <a:xfrm flipV="1">
              <a:off x="7708412" y="2976325"/>
              <a:ext cx="867801" cy="9855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B1FF64CC-CF4F-A15B-CC9D-F7EA4836FF2F}"/>
                </a:ext>
              </a:extLst>
            </p:cNvPr>
            <p:cNvCxnSpPr>
              <a:cxnSpLocks/>
              <a:stCxn id="23" idx="3"/>
              <a:endCxn id="30" idx="1"/>
            </p:cNvCxnSpPr>
            <p:nvPr/>
          </p:nvCxnSpPr>
          <p:spPr>
            <a:xfrm flipV="1">
              <a:off x="7708412" y="4245313"/>
              <a:ext cx="867801" cy="1976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EDC84155-B3D7-73A3-EA93-F9AAD4A476D7}"/>
              </a:ext>
            </a:extLst>
          </p:cNvPr>
          <p:cNvSpPr txBox="1"/>
          <p:nvPr/>
        </p:nvSpPr>
        <p:spPr>
          <a:xfrm>
            <a:off x="5524369" y="635836"/>
            <a:ext cx="11432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b="1" dirty="0"/>
              <a:t>Data Flow</a:t>
            </a:r>
          </a:p>
        </p:txBody>
      </p:sp>
    </p:spTree>
    <p:extLst>
      <p:ext uri="{BB962C8B-B14F-4D97-AF65-F5344CB8AC3E}">
        <p14:creationId xmlns:p14="http://schemas.microsoft.com/office/powerpoint/2010/main" val="281983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9D1DB0-3052-DE46-3DEF-E9C8B5D9839C}"/>
              </a:ext>
            </a:extLst>
          </p:cNvPr>
          <p:cNvSpPr txBox="1"/>
          <p:nvPr/>
        </p:nvSpPr>
        <p:spPr>
          <a:xfrm>
            <a:off x="5224832" y="648536"/>
            <a:ext cx="174233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b="1" dirty="0"/>
              <a:t>Data Integration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6A7FB9-1048-83B7-8344-6D522E87B4C6}"/>
              </a:ext>
            </a:extLst>
          </p:cNvPr>
          <p:cNvSpPr/>
          <p:nvPr/>
        </p:nvSpPr>
        <p:spPr>
          <a:xfrm>
            <a:off x="947737" y="1496708"/>
            <a:ext cx="4695825" cy="45182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7953DA-01FC-803E-7F26-35CCA89A9BC3}"/>
              </a:ext>
            </a:extLst>
          </p:cNvPr>
          <p:cNvSpPr/>
          <p:nvPr/>
        </p:nvSpPr>
        <p:spPr>
          <a:xfrm>
            <a:off x="6096000" y="1498092"/>
            <a:ext cx="4695824" cy="45168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7" name="Picture 2" descr="CRM - Free computer icons">
            <a:extLst>
              <a:ext uri="{FF2B5EF4-FFF2-40B4-BE49-F238E27FC236}">
                <a16:creationId xmlns:a16="http://schemas.microsoft.com/office/drawing/2014/main" id="{C9B7FFD6-A587-9622-26F7-57B64C3A5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768" y="1193043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D820FF-D86C-D56E-1EC9-65FD616DA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436395"/>
              </p:ext>
            </p:extLst>
          </p:nvPr>
        </p:nvGraphicFramePr>
        <p:xfrm>
          <a:off x="1224332" y="3209617"/>
          <a:ext cx="1498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573102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crm_sales_details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113859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prd_key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7279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cst_id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14077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pPr algn="ctr"/>
                      <a:r>
                        <a:rPr lang="en-MY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62408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168315-68E3-E7CB-C75E-036978BD6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969462"/>
              </p:ext>
            </p:extLst>
          </p:nvPr>
        </p:nvGraphicFramePr>
        <p:xfrm>
          <a:off x="3686914" y="2534612"/>
          <a:ext cx="1498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573102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crm_prd_info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113859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prd_key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7279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pPr algn="ctr"/>
                      <a:r>
                        <a:rPr lang="en-MY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62408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3E8C6B8-8CD1-6EA1-EBA6-737457A2C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17409"/>
              </p:ext>
            </p:extLst>
          </p:nvPr>
        </p:nvGraphicFramePr>
        <p:xfrm>
          <a:off x="3692046" y="4146451"/>
          <a:ext cx="1498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573102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crm_cust_info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113859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cst_id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7279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cst_key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85630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pPr algn="ctr"/>
                      <a:r>
                        <a:rPr lang="en-MY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624089"/>
                  </a:ext>
                </a:extLst>
              </a:tr>
            </a:tbl>
          </a:graphicData>
        </a:graphic>
      </p:graphicFrame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460A9B3-D49C-7B98-EEE1-5C3DB0623B6B}"/>
              </a:ext>
            </a:extLst>
          </p:cNvPr>
          <p:cNvCxnSpPr>
            <a:endCxn id="10" idx="1"/>
          </p:cNvCxnSpPr>
          <p:nvPr/>
        </p:nvCxnSpPr>
        <p:spPr>
          <a:xfrm flipV="1">
            <a:off x="2722932" y="2946092"/>
            <a:ext cx="963982" cy="6734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CFF5A28-1946-26F8-8CAD-C4D837272A10}"/>
              </a:ext>
            </a:extLst>
          </p:cNvPr>
          <p:cNvCxnSpPr>
            <a:cxnSpLocks/>
          </p:cNvCxnSpPr>
          <p:nvPr/>
        </p:nvCxnSpPr>
        <p:spPr>
          <a:xfrm>
            <a:off x="2722932" y="3884523"/>
            <a:ext cx="963982" cy="6858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BDC6644-04BF-CC42-051E-25A9B0AB27F5}"/>
              </a:ext>
            </a:extLst>
          </p:cNvPr>
          <p:cNvSpPr txBox="1"/>
          <p:nvPr/>
        </p:nvSpPr>
        <p:spPr>
          <a:xfrm>
            <a:off x="1224332" y="2489577"/>
            <a:ext cx="1498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MY" sz="1200" dirty="0"/>
              <a:t>Transactional Records About Sales &amp; Orders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99718B-741E-9588-7FB7-A5423AFC004F}"/>
              </a:ext>
            </a:extLst>
          </p:cNvPr>
          <p:cNvSpPr txBox="1"/>
          <p:nvPr/>
        </p:nvSpPr>
        <p:spPr>
          <a:xfrm>
            <a:off x="3686914" y="1968297"/>
            <a:ext cx="14986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MY" sz="1200" dirty="0"/>
              <a:t>Current &amp; History Product Information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8193E4-73E6-EECB-E397-26FFB53750E1}"/>
              </a:ext>
            </a:extLst>
          </p:cNvPr>
          <p:cNvSpPr txBox="1"/>
          <p:nvPr/>
        </p:nvSpPr>
        <p:spPr>
          <a:xfrm>
            <a:off x="3295649" y="1193711"/>
            <a:ext cx="249555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MY" sz="1200" dirty="0"/>
              <a:t>Customer Relationship Management</a:t>
            </a:r>
          </a:p>
        </p:txBody>
      </p:sp>
      <p:pic>
        <p:nvPicPr>
          <p:cNvPr id="8" name="Picture 4" descr="Erp - Free communications icons">
            <a:extLst>
              <a:ext uri="{FF2B5EF4-FFF2-40B4-BE49-F238E27FC236}">
                <a16:creationId xmlns:a16="http://schemas.microsoft.com/office/drawing/2014/main" id="{0F916627-C730-FBEF-F5B7-72D5262E5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638" y="1168095"/>
            <a:ext cx="657225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8E15189-8074-2D3F-029A-FE8643F23364}"/>
              </a:ext>
            </a:extLst>
          </p:cNvPr>
          <p:cNvSpPr txBox="1"/>
          <p:nvPr/>
        </p:nvSpPr>
        <p:spPr>
          <a:xfrm>
            <a:off x="8743950" y="1193711"/>
            <a:ext cx="20478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MY" sz="1200" dirty="0"/>
              <a:t>Enterprise Resource Planning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D2C9303-2B6E-97AE-C0CF-FA1510C8B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205600"/>
              </p:ext>
            </p:extLst>
          </p:nvPr>
        </p:nvGraphicFramePr>
        <p:xfrm>
          <a:off x="7694612" y="2078097"/>
          <a:ext cx="1498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573102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erp_px_cat_g1v2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113859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7279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pPr algn="ctr"/>
                      <a:r>
                        <a:rPr lang="en-MY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62408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E4FA3C6-2C24-B11B-7E69-7F2D8D91C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870751"/>
              </p:ext>
            </p:extLst>
          </p:nvPr>
        </p:nvGraphicFramePr>
        <p:xfrm>
          <a:off x="7696199" y="3483937"/>
          <a:ext cx="1498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573102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erp_cust_az12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113859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cid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7279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pPr algn="ctr"/>
                      <a:r>
                        <a:rPr lang="en-MY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624089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12D4C16-9449-7605-8DA3-49CB06985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766441"/>
              </p:ext>
            </p:extLst>
          </p:nvPr>
        </p:nvGraphicFramePr>
        <p:xfrm>
          <a:off x="7694612" y="4886902"/>
          <a:ext cx="1498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573102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erp_loc_a101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113859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cid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7279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pPr algn="ctr"/>
                      <a:r>
                        <a:rPr lang="en-MY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624089"/>
                  </a:ext>
                </a:extLst>
              </a:tr>
            </a:tbl>
          </a:graphicData>
        </a:graphic>
      </p:graphicFrame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DF6C918-F9ED-6305-B9E3-E74F9C864397}"/>
              </a:ext>
            </a:extLst>
          </p:cNvPr>
          <p:cNvCxnSpPr>
            <a:cxnSpLocks/>
            <a:stCxn id="10" idx="3"/>
            <a:endCxn id="23" idx="1"/>
          </p:cNvCxnSpPr>
          <p:nvPr/>
        </p:nvCxnSpPr>
        <p:spPr>
          <a:xfrm flipV="1">
            <a:off x="5185514" y="2489577"/>
            <a:ext cx="2509098" cy="4565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ACB1DE17-440C-4BBB-2173-63BD6E7C596E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5185514" y="4832350"/>
            <a:ext cx="2509098" cy="4660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42D67CA-C5C2-C935-C31B-EACFB7AE1921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5185514" y="3895417"/>
            <a:ext cx="2510685" cy="9369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42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9F7E84-BDC4-DAE4-9D21-2136A5CBAEA6}"/>
              </a:ext>
            </a:extLst>
          </p:cNvPr>
          <p:cNvSpPr txBox="1"/>
          <p:nvPr/>
        </p:nvSpPr>
        <p:spPr>
          <a:xfrm>
            <a:off x="4753420" y="543761"/>
            <a:ext cx="268515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MY" b="1" dirty="0"/>
              <a:t>Data Model (Star Schema)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A39811-0D47-B0BB-1A8C-C18A10798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652092"/>
              </p:ext>
            </p:extLst>
          </p:nvPr>
        </p:nvGraphicFramePr>
        <p:xfrm>
          <a:off x="1255710" y="1792347"/>
          <a:ext cx="183038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567">
                  <a:extLst>
                    <a:ext uri="{9D8B030D-6E8A-4147-A177-3AD203B41FA5}">
                      <a16:colId xmlns:a16="http://schemas.microsoft.com/office/drawing/2014/main" val="573102754"/>
                    </a:ext>
                  </a:extLst>
                </a:gridCol>
                <a:gridCol w="1405822">
                  <a:extLst>
                    <a:ext uri="{9D8B030D-6E8A-4147-A177-3AD203B41FA5}">
                      <a16:colId xmlns:a16="http://schemas.microsoft.com/office/drawing/2014/main" val="246927852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gold.dim_customers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13859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customer_key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7279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customer_id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356828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first_name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969291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last_name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44931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608902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martial_status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09271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376132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birthdate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740300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6415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1599F5-9DD3-2EC9-6BC4-2DBF2B0E7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251287"/>
              </p:ext>
            </p:extLst>
          </p:nvPr>
        </p:nvGraphicFramePr>
        <p:xfrm>
          <a:off x="4953001" y="1792347"/>
          <a:ext cx="206771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616">
                  <a:extLst>
                    <a:ext uri="{9D8B030D-6E8A-4147-A177-3AD203B41FA5}">
                      <a16:colId xmlns:a16="http://schemas.microsoft.com/office/drawing/2014/main" val="573102754"/>
                    </a:ext>
                  </a:extLst>
                </a:gridCol>
                <a:gridCol w="1588102">
                  <a:extLst>
                    <a:ext uri="{9D8B030D-6E8A-4147-A177-3AD203B41FA5}">
                      <a16:colId xmlns:a16="http://schemas.microsoft.com/office/drawing/2014/main" val="246927852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gold.fact_sales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13859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order_number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7279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product_key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356828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customer_key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969291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order_date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44931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shipping_date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608902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due_date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09271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sales_amount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376132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740300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64155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980055-A0F7-572F-B80E-3DB65394D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032324"/>
              </p:ext>
            </p:extLst>
          </p:nvPr>
        </p:nvGraphicFramePr>
        <p:xfrm>
          <a:off x="8887621" y="1792347"/>
          <a:ext cx="183038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567">
                  <a:extLst>
                    <a:ext uri="{9D8B030D-6E8A-4147-A177-3AD203B41FA5}">
                      <a16:colId xmlns:a16="http://schemas.microsoft.com/office/drawing/2014/main" val="573102754"/>
                    </a:ext>
                  </a:extLst>
                </a:gridCol>
                <a:gridCol w="1405822">
                  <a:extLst>
                    <a:ext uri="{9D8B030D-6E8A-4147-A177-3AD203B41FA5}">
                      <a16:colId xmlns:a16="http://schemas.microsoft.com/office/drawing/2014/main" val="246927852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gold.dim_products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13859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r>
                        <a:rPr lang="en-MY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product_key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7279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product_id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356828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product_number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969291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product_name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44931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category_id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608902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092717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subcategory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376132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maintenance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740300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641558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product_line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775228"/>
                  </a:ext>
                </a:extLst>
              </a:tr>
              <a:tr h="177057">
                <a:tc>
                  <a:txBody>
                    <a:bodyPr/>
                    <a:lstStyle/>
                    <a:p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start_date</a:t>
                      </a:r>
                      <a:endParaRPr lang="en-MY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808333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970251E-72D7-6767-A698-10F247D2B8C8}"/>
              </a:ext>
            </a:extLst>
          </p:cNvPr>
          <p:cNvCxnSpPr>
            <a:cxnSpLocks/>
          </p:cNvCxnSpPr>
          <p:nvPr/>
        </p:nvCxnSpPr>
        <p:spPr>
          <a:xfrm>
            <a:off x="3086099" y="2219325"/>
            <a:ext cx="1866902" cy="542925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2883210-7A96-20F6-EFC1-8BF6FAEFCD24}"/>
              </a:ext>
            </a:extLst>
          </p:cNvPr>
          <p:cNvCxnSpPr/>
          <p:nvPr/>
        </p:nvCxnSpPr>
        <p:spPr>
          <a:xfrm flipV="1">
            <a:off x="7020719" y="2219325"/>
            <a:ext cx="1866902" cy="26670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3EDD7F-8F23-46EA-42B5-AAD8A6AEA35B}"/>
              </a:ext>
            </a:extLst>
          </p:cNvPr>
          <p:cNvCxnSpPr/>
          <p:nvPr/>
        </p:nvCxnSpPr>
        <p:spPr>
          <a:xfrm>
            <a:off x="3184525" y="2171700"/>
            <a:ext cx="0" cy="825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EC375A-7B64-D855-9555-AE71E86FB1AC}"/>
              </a:ext>
            </a:extLst>
          </p:cNvPr>
          <p:cNvCxnSpPr/>
          <p:nvPr/>
        </p:nvCxnSpPr>
        <p:spPr>
          <a:xfrm>
            <a:off x="3222625" y="2171700"/>
            <a:ext cx="0" cy="825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80547E-4BAC-64BA-CD45-19F85898BE34}"/>
              </a:ext>
            </a:extLst>
          </p:cNvPr>
          <p:cNvCxnSpPr>
            <a:cxnSpLocks/>
          </p:cNvCxnSpPr>
          <p:nvPr/>
        </p:nvCxnSpPr>
        <p:spPr>
          <a:xfrm flipH="1">
            <a:off x="4854575" y="2695575"/>
            <a:ext cx="98426" cy="66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CB2971-DA35-D6B8-6E34-C7A7DD9F054C}"/>
              </a:ext>
            </a:extLst>
          </p:cNvPr>
          <p:cNvCxnSpPr>
            <a:cxnSpLocks/>
          </p:cNvCxnSpPr>
          <p:nvPr/>
        </p:nvCxnSpPr>
        <p:spPr>
          <a:xfrm>
            <a:off x="4854575" y="2762250"/>
            <a:ext cx="98426" cy="47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F9D65C2-F87D-5A6D-9EE4-D6AD2F11DDE4}"/>
              </a:ext>
            </a:extLst>
          </p:cNvPr>
          <p:cNvSpPr/>
          <p:nvPr/>
        </p:nvSpPr>
        <p:spPr>
          <a:xfrm>
            <a:off x="4813300" y="2738437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2B6E625-3386-6EE1-DB2D-6B13B74725F1}"/>
              </a:ext>
            </a:extLst>
          </p:cNvPr>
          <p:cNvGrpSpPr/>
          <p:nvPr/>
        </p:nvGrpSpPr>
        <p:grpSpPr>
          <a:xfrm rot="10800000">
            <a:off x="7020719" y="2438400"/>
            <a:ext cx="139701" cy="114300"/>
            <a:chOff x="4965700" y="2847975"/>
            <a:chExt cx="139701" cy="11430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1B034BA-55FD-1718-7B2A-42B65B39D1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6975" y="2847975"/>
              <a:ext cx="98426" cy="6667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873BD-F00B-9D10-A841-8A3689170544}"/>
                </a:ext>
              </a:extLst>
            </p:cNvPr>
            <p:cNvCxnSpPr>
              <a:cxnSpLocks/>
            </p:cNvCxnSpPr>
            <p:nvPr/>
          </p:nvCxnSpPr>
          <p:spPr>
            <a:xfrm>
              <a:off x="5006975" y="2914650"/>
              <a:ext cx="98426" cy="476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DA9F9D8-F28F-3069-9D21-4F91414AFDC4}"/>
                </a:ext>
              </a:extLst>
            </p:cNvPr>
            <p:cNvSpPr/>
            <p:nvPr/>
          </p:nvSpPr>
          <p:spPr>
            <a:xfrm>
              <a:off x="4965700" y="289083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E11165-A21A-BA53-8136-EA50B1148B1B}"/>
              </a:ext>
            </a:extLst>
          </p:cNvPr>
          <p:cNvCxnSpPr/>
          <p:nvPr/>
        </p:nvCxnSpPr>
        <p:spPr>
          <a:xfrm>
            <a:off x="8804275" y="2178050"/>
            <a:ext cx="0" cy="825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CEFABB5-3021-ECDE-929B-66361E906BD7}"/>
              </a:ext>
            </a:extLst>
          </p:cNvPr>
          <p:cNvCxnSpPr/>
          <p:nvPr/>
        </p:nvCxnSpPr>
        <p:spPr>
          <a:xfrm>
            <a:off x="8842375" y="2178050"/>
            <a:ext cx="0" cy="825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517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355</Words>
  <Application>Microsoft Office PowerPoint</Application>
  <PresentationFormat>Widescreen</PresentationFormat>
  <Paragraphs>137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Chua JingXuan</dc:creator>
  <cp:lastModifiedBy>Chua JingXuan</cp:lastModifiedBy>
  <cp:revision>16</cp:revision>
  <dcterms:created xsi:type="dcterms:W3CDTF">2026-05-14T04:42:54Z</dcterms:created>
  <dcterms:modified xsi:type="dcterms:W3CDTF">2026-05-14T05:40:55Z</dcterms:modified>
</cp:coreProperties>
</file>